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1"/>
  </p:sldMasterIdLst>
  <p:sldIdLst>
    <p:sldId id="256" r:id="rId2"/>
    <p:sldId id="257" r:id="rId3"/>
    <p:sldId id="258" r:id="rId4"/>
    <p:sldId id="268" r:id="rId5"/>
    <p:sldId id="271" r:id="rId6"/>
    <p:sldId id="267" r:id="rId7"/>
    <p:sldId id="259" r:id="rId8"/>
    <p:sldId id="266" r:id="rId9"/>
    <p:sldId id="260" r:id="rId10"/>
    <p:sldId id="261" r:id="rId11"/>
    <p:sldId id="262" r:id="rId12"/>
    <p:sldId id="263" r:id="rId13"/>
    <p:sldId id="264" r:id="rId14"/>
    <p:sldId id="265"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CB0CC6E-2643-4A7F-A9B0-F0483B0AE30E}" type="datetimeFigureOut">
              <a:rPr lang="en-IN" smtClean="0"/>
              <a:t>05-01-2024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22DCD6C-A649-4FB3-AE7B-E8F059F45DE4}"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9805288"/>
      </p:ext>
    </p:extLst>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B0CC6E-2643-4A7F-A9B0-F0483B0AE30E}" type="datetimeFigureOut">
              <a:rPr lang="en-IN" smtClean="0"/>
              <a:t>05-01-2024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22DCD6C-A649-4FB3-AE7B-E8F059F45DE4}" type="slidenum">
              <a:rPr lang="en-IN" smtClean="0"/>
              <a:t>‹#›</a:t>
            </a:fld>
            <a:endParaRPr lang="en-IN"/>
          </a:p>
        </p:txBody>
      </p:sp>
    </p:spTree>
    <p:extLst>
      <p:ext uri="{BB962C8B-B14F-4D97-AF65-F5344CB8AC3E}">
        <p14:creationId xmlns:p14="http://schemas.microsoft.com/office/powerpoint/2010/main" val="4199569642"/>
      </p:ext>
    </p:extLst>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CB0CC6E-2643-4A7F-A9B0-F0483B0AE30E}" type="datetimeFigureOut">
              <a:rPr lang="en-IN" smtClean="0"/>
              <a:t>05-01-2024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22DCD6C-A649-4FB3-AE7B-E8F059F45DE4}" type="slidenum">
              <a:rPr lang="en-IN" smtClean="0"/>
              <a:t>‹#›</a:t>
            </a:fld>
            <a:endParaRPr lang="en-IN"/>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5577440"/>
      </p:ext>
    </p:extLst>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CB0CC6E-2643-4A7F-A9B0-F0483B0AE30E}" type="datetimeFigureOut">
              <a:rPr lang="en-IN" smtClean="0"/>
              <a:t>05-01-2024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22DCD6C-A649-4FB3-AE7B-E8F059F45DE4}" type="slidenum">
              <a:rPr lang="en-IN" smtClean="0"/>
              <a:t>‹#›</a:t>
            </a:fld>
            <a:endParaRPr lang="en-IN"/>
          </a:p>
        </p:txBody>
      </p:sp>
    </p:spTree>
    <p:extLst>
      <p:ext uri="{BB962C8B-B14F-4D97-AF65-F5344CB8AC3E}">
        <p14:creationId xmlns:p14="http://schemas.microsoft.com/office/powerpoint/2010/main" val="67005156"/>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CB0CC6E-2643-4A7F-A9B0-F0483B0AE30E}" type="datetimeFigureOut">
              <a:rPr lang="en-IN" smtClean="0"/>
              <a:t>05-01-2024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22DCD6C-A649-4FB3-AE7B-E8F059F45DE4}" type="slidenum">
              <a:rPr lang="en-IN" smtClean="0"/>
              <a:t>‹#›</a:t>
            </a:fld>
            <a:endParaRPr lang="en-IN"/>
          </a:p>
        </p:txBody>
      </p:sp>
    </p:spTree>
    <p:extLst>
      <p:ext uri="{BB962C8B-B14F-4D97-AF65-F5344CB8AC3E}">
        <p14:creationId xmlns:p14="http://schemas.microsoft.com/office/powerpoint/2010/main" val="3668207104"/>
      </p:ext>
    </p:extLst>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CB0CC6E-2643-4A7F-A9B0-F0483B0AE30E}" type="datetimeFigureOut">
              <a:rPr lang="en-IN" smtClean="0"/>
              <a:t>05-01-2024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922DCD6C-A649-4FB3-AE7B-E8F059F45DE4}" type="slidenum">
              <a:rPr lang="en-IN" smtClean="0"/>
              <a:t>‹#›</a:t>
            </a:fld>
            <a:endParaRPr lang="en-IN"/>
          </a:p>
        </p:txBody>
      </p:sp>
    </p:spTree>
    <p:extLst>
      <p:ext uri="{BB962C8B-B14F-4D97-AF65-F5344CB8AC3E}">
        <p14:creationId xmlns:p14="http://schemas.microsoft.com/office/powerpoint/2010/main" val="390874998"/>
      </p:ext>
    </p:extLst>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2CB0CC6E-2643-4A7F-A9B0-F0483B0AE30E}" type="datetimeFigureOut">
              <a:rPr lang="en-IN" smtClean="0"/>
              <a:t>05-01-2024</a:t>
            </a:fld>
            <a:endParaRPr lang="en-IN"/>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IN"/>
          </a:p>
        </p:txBody>
      </p:sp>
      <p:sp>
        <p:nvSpPr>
          <p:cNvPr id="9" name="Slide Number Placeholder 8"/>
          <p:cNvSpPr>
            <a:spLocks noGrp="1"/>
          </p:cNvSpPr>
          <p:nvPr>
            <p:ph type="sldNum" sz="quarter" idx="12"/>
          </p:nvPr>
        </p:nvSpPr>
        <p:spPr/>
        <p:txBody>
          <a:bodyPr/>
          <a:lstStyle/>
          <a:p>
            <a:fld id="{922DCD6C-A649-4FB3-AE7B-E8F059F45DE4}" type="slidenum">
              <a:rPr lang="en-IN" smtClean="0"/>
              <a:t>‹#›</a:t>
            </a:fld>
            <a:endParaRPr lang="en-IN"/>
          </a:p>
        </p:txBody>
      </p:sp>
    </p:spTree>
    <p:extLst>
      <p:ext uri="{BB962C8B-B14F-4D97-AF65-F5344CB8AC3E}">
        <p14:creationId xmlns:p14="http://schemas.microsoft.com/office/powerpoint/2010/main" val="146564829"/>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2CB0CC6E-2643-4A7F-A9B0-F0483B0AE30E}" type="datetimeFigureOut">
              <a:rPr lang="en-IN" smtClean="0"/>
              <a:t>05-01-2024</a:t>
            </a:fld>
            <a:endParaRPr lang="en-IN"/>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22DCD6C-A649-4FB3-AE7B-E8F059F45DE4}" type="slidenum">
              <a:rPr lang="en-IN" smtClean="0"/>
              <a:t>‹#›</a:t>
            </a:fld>
            <a:endParaRPr lang="en-IN"/>
          </a:p>
        </p:txBody>
      </p:sp>
    </p:spTree>
    <p:extLst>
      <p:ext uri="{BB962C8B-B14F-4D97-AF65-F5344CB8AC3E}">
        <p14:creationId xmlns:p14="http://schemas.microsoft.com/office/powerpoint/2010/main" val="1303427499"/>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CB0CC6E-2643-4A7F-A9B0-F0483B0AE30E}" type="datetimeFigureOut">
              <a:rPr lang="en-IN" smtClean="0"/>
              <a:t>05-01-2024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22DCD6C-A649-4FB3-AE7B-E8F059F45DE4}" type="slidenum">
              <a:rPr lang="en-IN" smtClean="0"/>
              <a:t>‹#›</a:t>
            </a:fld>
            <a:endParaRPr lang="en-IN"/>
          </a:p>
        </p:txBody>
      </p:sp>
    </p:spTree>
    <p:extLst>
      <p:ext uri="{BB962C8B-B14F-4D97-AF65-F5344CB8AC3E}">
        <p14:creationId xmlns:p14="http://schemas.microsoft.com/office/powerpoint/2010/main" val="3325350059"/>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B0CC6E-2643-4A7F-A9B0-F0483B0AE30E}" type="datetimeFigureOut">
              <a:rPr lang="en-IN" smtClean="0"/>
              <a:t>05-01-2024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22DCD6C-A649-4FB3-AE7B-E8F059F45DE4}" type="slidenum">
              <a:rPr lang="en-IN" smtClean="0"/>
              <a:t>‹#›</a:t>
            </a:fld>
            <a:endParaRPr lang="en-IN"/>
          </a:p>
        </p:txBody>
      </p:sp>
    </p:spTree>
    <p:extLst>
      <p:ext uri="{BB962C8B-B14F-4D97-AF65-F5344CB8AC3E}">
        <p14:creationId xmlns:p14="http://schemas.microsoft.com/office/powerpoint/2010/main" val="139063886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B0CC6E-2643-4A7F-A9B0-F0483B0AE30E}" type="datetimeFigureOut">
              <a:rPr lang="en-IN" smtClean="0"/>
              <a:t>05-01-2024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22DCD6C-A649-4FB3-AE7B-E8F059F45DE4}" type="slidenum">
              <a:rPr lang="en-IN" smtClean="0"/>
              <a:t>‹#›</a:t>
            </a:fld>
            <a:endParaRPr lang="en-IN"/>
          </a:p>
        </p:txBody>
      </p:sp>
    </p:spTree>
    <p:extLst>
      <p:ext uri="{BB962C8B-B14F-4D97-AF65-F5344CB8AC3E}">
        <p14:creationId xmlns:p14="http://schemas.microsoft.com/office/powerpoint/2010/main" val="2072591276"/>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CAA2B-6E38-AD81-0B6C-D7FE55DF06CD}"/>
              </a:ext>
            </a:extLst>
          </p:cNvPr>
          <p:cNvSpPr>
            <a:spLocks noGrp="1"/>
          </p:cNvSpPr>
          <p:nvPr>
            <p:ph type="title"/>
          </p:nvPr>
        </p:nvSpPr>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1218120-29D8-C50C-5451-343B8A47D90F}"/>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5B2CADE-77D5-9AF2-0855-C39617901158}"/>
              </a:ext>
            </a:extLst>
          </p:cNvPr>
          <p:cNvSpPr>
            <a:spLocks noGrp="1"/>
          </p:cNvSpPr>
          <p:nvPr>
            <p:ph type="dt" sz="half" idx="10"/>
          </p:nvPr>
        </p:nvSpPr>
        <p:spPr/>
        <p:txBody>
          <a:bodyPr/>
          <a:lstStyle/>
          <a:p>
            <a:fld id="{2CB0CC6E-2643-4A7F-A9B0-F0483B0AE30E}" type="datetimeFigureOut">
              <a:rPr lang="en-IN" smtClean="0"/>
              <a:t>05-01-2024</a:t>
            </a:fld>
            <a:endParaRPr lang="en-IN"/>
          </a:p>
        </p:txBody>
      </p:sp>
      <p:sp>
        <p:nvSpPr>
          <p:cNvPr id="5" name="Footer Placeholder 4">
            <a:extLst>
              <a:ext uri="{FF2B5EF4-FFF2-40B4-BE49-F238E27FC236}">
                <a16:creationId xmlns:a16="http://schemas.microsoft.com/office/drawing/2014/main" id="{42756773-52FB-F39F-1C17-1C319B60B4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07E762-4731-082C-9B05-CA8F2EE0CC7F}"/>
              </a:ext>
            </a:extLst>
          </p:cNvPr>
          <p:cNvSpPr>
            <a:spLocks noGrp="1"/>
          </p:cNvSpPr>
          <p:nvPr>
            <p:ph type="sldNum" sz="quarter" idx="12"/>
          </p:nvPr>
        </p:nvSpPr>
        <p:spPr/>
        <p:txBody>
          <a:bodyPr/>
          <a:lstStyle/>
          <a:p>
            <a:fld id="{922DCD6C-A649-4FB3-AE7B-E8F059F45DE4}" type="slidenum">
              <a:rPr lang="en-IN" smtClean="0"/>
              <a:t>‹#›</a:t>
            </a:fld>
            <a:endParaRPr lang="en-IN"/>
          </a:p>
        </p:txBody>
      </p:sp>
    </p:spTree>
    <p:extLst>
      <p:ext uri="{BB962C8B-B14F-4D97-AF65-F5344CB8AC3E}">
        <p14:creationId xmlns:p14="http://schemas.microsoft.com/office/powerpoint/2010/main" val="3515441415"/>
      </p:ext>
    </p:extLst>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2CB0CC6E-2643-4A7F-A9B0-F0483B0AE30E}" type="datetimeFigureOut">
              <a:rPr lang="en-IN" smtClean="0"/>
              <a:t>05-01-2024</a:t>
            </a:fld>
            <a:endParaRPr lang="en-IN"/>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IN"/>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922DCD6C-A649-4FB3-AE7B-E8F059F45DE4}" type="slidenum">
              <a:rPr lang="en-IN" smtClean="0"/>
              <a:t>‹#›</a:t>
            </a:fld>
            <a:endParaRPr lang="en-IN"/>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0952198"/>
      </p:ext>
    </p:extLst>
  </p:cSld>
  <p:clrMap bg1="lt1" tx1="dk1" bg2="lt2" tx2="dk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Lst>
  <p:transition spd="slow">
    <p:wipe/>
  </p:transition>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1D8E2-3EDC-7ADF-6EBE-5850843560B7}"/>
              </a:ext>
            </a:extLst>
          </p:cNvPr>
          <p:cNvSpPr>
            <a:spLocks noGrp="1"/>
          </p:cNvSpPr>
          <p:nvPr>
            <p:ph type="ctrTitle"/>
          </p:nvPr>
        </p:nvSpPr>
        <p:spPr/>
        <p:txBody>
          <a:bodyPr>
            <a:normAutofit/>
          </a:bodyPr>
          <a:lstStyle/>
          <a:p>
            <a:r>
              <a:rPr lang="en-IN" dirty="0"/>
              <a:t>Bidirectional Counter Presentation</a:t>
            </a:r>
          </a:p>
        </p:txBody>
      </p:sp>
      <p:sp>
        <p:nvSpPr>
          <p:cNvPr id="4" name="TextBox 3">
            <a:extLst>
              <a:ext uri="{FF2B5EF4-FFF2-40B4-BE49-F238E27FC236}">
                <a16:creationId xmlns:a16="http://schemas.microsoft.com/office/drawing/2014/main" id="{0461028B-DE07-7A72-4716-0833325A7EEA}"/>
              </a:ext>
            </a:extLst>
          </p:cNvPr>
          <p:cNvSpPr txBox="1"/>
          <p:nvPr/>
        </p:nvSpPr>
        <p:spPr>
          <a:xfrm>
            <a:off x="8586216" y="4910328"/>
            <a:ext cx="3395472" cy="1295868"/>
          </a:xfrm>
          <a:custGeom>
            <a:avLst/>
            <a:gdLst>
              <a:gd name="connsiteX0" fmla="*/ 0 w 3395472"/>
              <a:gd name="connsiteY0" fmla="*/ 0 h 1295868"/>
              <a:gd name="connsiteX1" fmla="*/ 3395472 w 3395472"/>
              <a:gd name="connsiteY1" fmla="*/ 0 h 1295868"/>
              <a:gd name="connsiteX2" fmla="*/ 3395472 w 3395472"/>
              <a:gd name="connsiteY2" fmla="*/ 1295868 h 1295868"/>
              <a:gd name="connsiteX3" fmla="*/ 0 w 3395472"/>
              <a:gd name="connsiteY3" fmla="*/ 1295868 h 1295868"/>
              <a:gd name="connsiteX4" fmla="*/ 0 w 3395472"/>
              <a:gd name="connsiteY4" fmla="*/ 0 h 12958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5472" h="1295868" extrusionOk="0">
                <a:moveTo>
                  <a:pt x="0" y="0"/>
                </a:moveTo>
                <a:cubicBezTo>
                  <a:pt x="434878" y="104423"/>
                  <a:pt x="1699272" y="-141158"/>
                  <a:pt x="3395472" y="0"/>
                </a:cubicBezTo>
                <a:cubicBezTo>
                  <a:pt x="3358760" y="206793"/>
                  <a:pt x="3408614" y="977299"/>
                  <a:pt x="3395472" y="1295868"/>
                </a:cubicBezTo>
                <a:cubicBezTo>
                  <a:pt x="2113006" y="1243955"/>
                  <a:pt x="775543" y="1298297"/>
                  <a:pt x="0" y="1295868"/>
                </a:cubicBezTo>
                <a:cubicBezTo>
                  <a:pt x="-72806" y="875444"/>
                  <a:pt x="4764" y="599074"/>
                  <a:pt x="0" y="0"/>
                </a:cubicBezTo>
                <a:close/>
              </a:path>
            </a:pathLst>
          </a:custGeom>
          <a:noFill/>
          <a:ln>
            <a:solidFill>
              <a:srgbClr val="00B050"/>
            </a:solidFill>
            <a:extLst>
              <a:ext uri="{C807C97D-BFC1-408E-A445-0C87EB9F89A2}">
                <ask:lineSketchStyleProps xmlns:ask="http://schemas.microsoft.com/office/drawing/2018/sketchyshapes" sd="1548687692">
                  <a:prstGeom prst="rect">
                    <a:avLst/>
                  </a:prstGeom>
                  <ask:type>
                    <ask:lineSketchCurved/>
                  </ask:type>
                </ask:lineSketchStyleProps>
              </a:ext>
            </a:extLst>
          </a:ln>
        </p:spPr>
        <p:txBody>
          <a:bodyPr wrap="square" rtlCol="0">
            <a:spAutoFit/>
          </a:bodyPr>
          <a:lstStyle/>
          <a:p>
            <a:pPr marL="285750" indent="-285750">
              <a:lnSpc>
                <a:spcPct val="150000"/>
              </a:lnSpc>
              <a:buFont typeface="Arial" panose="020B0604020202020204" pitchFamily="34" charset="0"/>
              <a:buChar char="•"/>
            </a:pPr>
            <a:r>
              <a:rPr lang="en-IN" dirty="0"/>
              <a:t>AMBIKA_2002220310004</a:t>
            </a:r>
          </a:p>
          <a:p>
            <a:pPr marL="285750" indent="-285750">
              <a:lnSpc>
                <a:spcPct val="150000"/>
              </a:lnSpc>
              <a:buFont typeface="Arial" panose="020B0604020202020204" pitchFamily="34" charset="0"/>
              <a:buChar char="•"/>
            </a:pPr>
            <a:r>
              <a:rPr lang="en-IN" dirty="0"/>
              <a:t>RAHUL RAJ_2002220310016</a:t>
            </a:r>
          </a:p>
          <a:p>
            <a:pPr marL="285750" indent="-285750">
              <a:lnSpc>
                <a:spcPct val="150000"/>
              </a:lnSpc>
              <a:buFont typeface="Arial" panose="020B0604020202020204" pitchFamily="34" charset="0"/>
              <a:buChar char="•"/>
            </a:pPr>
            <a:r>
              <a:rPr lang="en-IN" dirty="0"/>
              <a:t>RAJU KUMAR_2002220310017</a:t>
            </a:r>
          </a:p>
        </p:txBody>
      </p:sp>
    </p:spTree>
    <p:extLst>
      <p:ext uri="{BB962C8B-B14F-4D97-AF65-F5344CB8AC3E}">
        <p14:creationId xmlns:p14="http://schemas.microsoft.com/office/powerpoint/2010/main" val="1205240950"/>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26396-663E-F745-F55A-4E4C634E5789}"/>
              </a:ext>
            </a:extLst>
          </p:cNvPr>
          <p:cNvSpPr>
            <a:spLocks noGrp="1"/>
          </p:cNvSpPr>
          <p:nvPr>
            <p:ph type="title"/>
          </p:nvPr>
        </p:nvSpPr>
        <p:spPr/>
        <p:txBody>
          <a:bodyPr/>
          <a:lstStyle/>
          <a:p>
            <a:r>
              <a:rPr lang="en-IN"/>
              <a:t>Introduction</a:t>
            </a:r>
          </a:p>
        </p:txBody>
      </p:sp>
      <p:sp>
        <p:nvSpPr>
          <p:cNvPr id="3" name="Text Placeholder 2">
            <a:extLst>
              <a:ext uri="{FF2B5EF4-FFF2-40B4-BE49-F238E27FC236}">
                <a16:creationId xmlns:a16="http://schemas.microsoft.com/office/drawing/2014/main" id="{5233068B-4CBB-8238-4360-CA6852F2D23C}"/>
              </a:ext>
            </a:extLst>
          </p:cNvPr>
          <p:cNvSpPr>
            <a:spLocks noGrp="1"/>
          </p:cNvSpPr>
          <p:nvPr>
            <p:ph type="body" idx="1"/>
          </p:nvPr>
        </p:nvSpPr>
        <p:spPr/>
        <p:txBody>
          <a:bodyPr/>
          <a:lstStyle/>
          <a:p>
            <a:r>
              <a:rPr lang="en-US" dirty="0"/>
              <a:t>A bidirectional counter is a counter that can be incremented or decremented. It is commonly used in various applications such as electronics and digital systems.</a:t>
            </a:r>
          </a:p>
          <a:p>
            <a:pPr algn="l">
              <a:buFont typeface="+mj-lt"/>
              <a:buAutoNum type="arabicPeriod"/>
            </a:pPr>
            <a:r>
              <a:rPr lang="en-US" b="1" i="0" dirty="0">
                <a:solidFill>
                  <a:srgbClr val="374151"/>
                </a:solidFill>
                <a:effectLst/>
                <a:latin typeface="Söhne"/>
              </a:rPr>
              <a:t>Counting in Two Directions:</a:t>
            </a:r>
            <a:r>
              <a:rPr lang="en-US" b="0" i="0" dirty="0">
                <a:solidFill>
                  <a:srgbClr val="374151"/>
                </a:solidFill>
                <a:effectLst/>
                <a:latin typeface="Söhne"/>
              </a:rPr>
              <a:t> Bidirectional counters can increment (count up) as well as decrement (count down) based on the input signals they receive. This flexibility allows them to handle a wide range of applications.</a:t>
            </a:r>
          </a:p>
          <a:p>
            <a:pPr algn="l">
              <a:buFont typeface="+mj-lt"/>
              <a:buAutoNum type="arabicPeriod"/>
            </a:pPr>
            <a:r>
              <a:rPr lang="en-US" b="1" i="0" dirty="0">
                <a:solidFill>
                  <a:srgbClr val="374151"/>
                </a:solidFill>
                <a:effectLst/>
                <a:latin typeface="Söhne"/>
              </a:rPr>
              <a:t>Binary Representation:</a:t>
            </a:r>
            <a:r>
              <a:rPr lang="en-US" b="0" i="0" dirty="0">
                <a:solidFill>
                  <a:srgbClr val="374151"/>
                </a:solidFill>
                <a:effectLst/>
                <a:latin typeface="Söhne"/>
              </a:rPr>
              <a:t> Like unidirectional counters, bidirectional counters typically use binary representation for counting. They have the ability to add or subtract binary values, enabling both increasing and decreasing sequences.</a:t>
            </a:r>
          </a:p>
          <a:p>
            <a:pPr algn="l">
              <a:buFont typeface="+mj-lt"/>
              <a:buAutoNum type="arabicPeriod"/>
            </a:pPr>
            <a:r>
              <a:rPr lang="en-US" b="1" i="0" dirty="0">
                <a:solidFill>
                  <a:srgbClr val="374151"/>
                </a:solidFill>
                <a:effectLst/>
                <a:latin typeface="Söhne"/>
              </a:rPr>
              <a:t>Controlled by Input Signals:</a:t>
            </a:r>
            <a:r>
              <a:rPr lang="en-US" b="0" i="0" dirty="0">
                <a:solidFill>
                  <a:srgbClr val="374151"/>
                </a:solidFill>
                <a:effectLst/>
                <a:latin typeface="Söhne"/>
              </a:rPr>
              <a:t> The direction of counting is controlled by specific input signals. For example, a bidirectional counter may have separate input lines for counting up and counting down, allowing external control over the direction of the count.</a:t>
            </a:r>
          </a:p>
          <a:p>
            <a:endParaRPr lang="en-IN" dirty="0"/>
          </a:p>
        </p:txBody>
      </p:sp>
    </p:spTree>
    <p:extLst>
      <p:ext uri="{BB962C8B-B14F-4D97-AF65-F5344CB8AC3E}">
        <p14:creationId xmlns:p14="http://schemas.microsoft.com/office/powerpoint/2010/main" val="171751056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B755B-7BCA-3815-15B7-1293D51550E9}"/>
              </a:ext>
            </a:extLst>
          </p:cNvPr>
          <p:cNvSpPr>
            <a:spLocks noGrp="1"/>
          </p:cNvSpPr>
          <p:nvPr>
            <p:ph type="title"/>
          </p:nvPr>
        </p:nvSpPr>
        <p:spPr/>
        <p:txBody>
          <a:bodyPr/>
          <a:lstStyle/>
          <a:p>
            <a:r>
              <a:rPr lang="en-IN"/>
              <a:t>Basic Concept</a:t>
            </a:r>
          </a:p>
        </p:txBody>
      </p:sp>
      <p:sp>
        <p:nvSpPr>
          <p:cNvPr id="3" name="Text Placeholder 2">
            <a:extLst>
              <a:ext uri="{FF2B5EF4-FFF2-40B4-BE49-F238E27FC236}">
                <a16:creationId xmlns:a16="http://schemas.microsoft.com/office/drawing/2014/main" id="{B0ACC738-40C0-1EE5-AD0F-4B7BA9DAF64A}"/>
              </a:ext>
            </a:extLst>
          </p:cNvPr>
          <p:cNvSpPr>
            <a:spLocks noGrp="1"/>
          </p:cNvSpPr>
          <p:nvPr>
            <p:ph type="body" idx="1"/>
          </p:nvPr>
        </p:nvSpPr>
        <p:spPr>
          <a:xfrm>
            <a:off x="1097280" y="1845734"/>
            <a:ext cx="10058400" cy="705442"/>
          </a:xfrm>
        </p:spPr>
        <p:txBody>
          <a:bodyPr/>
          <a:lstStyle/>
          <a:p>
            <a:r>
              <a:rPr lang="en-US" dirty="0"/>
              <a:t>The bidirectional counter can count both upwards and downwards. It has two modes: counting up and counting down. This flexibility makes it suitable for a wide range of applications.</a:t>
            </a:r>
            <a:endParaRPr lang="en-IN" dirty="0"/>
          </a:p>
        </p:txBody>
      </p:sp>
      <p:pic>
        <p:nvPicPr>
          <p:cNvPr id="1026" name="Picture 2" descr="Bidirectional Visitor Counter using Arduino » ElectroDuino">
            <a:extLst>
              <a:ext uri="{FF2B5EF4-FFF2-40B4-BE49-F238E27FC236}">
                <a16:creationId xmlns:a16="http://schemas.microsoft.com/office/drawing/2014/main" id="{09009D4B-C9DD-CC1A-CF39-35FEDC695E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79635" y="2659550"/>
            <a:ext cx="5832729" cy="35893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6712867"/>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B755B-7BCA-3815-15B7-1293D51550E9}"/>
              </a:ext>
            </a:extLst>
          </p:cNvPr>
          <p:cNvSpPr>
            <a:spLocks noGrp="1"/>
          </p:cNvSpPr>
          <p:nvPr>
            <p:ph type="title"/>
          </p:nvPr>
        </p:nvSpPr>
        <p:spPr/>
        <p:txBody>
          <a:bodyPr/>
          <a:lstStyle/>
          <a:p>
            <a:r>
              <a:rPr lang="en-IN" b="1" i="0" dirty="0">
                <a:solidFill>
                  <a:srgbClr val="000080"/>
                </a:solidFill>
                <a:effectLst/>
                <a:latin typeface="Open Sans" panose="020B0606030504020204" pitchFamily="34" charset="0"/>
              </a:rPr>
              <a:t>COMPONENTS USED</a:t>
            </a:r>
            <a:endParaRPr lang="en-IN" dirty="0"/>
          </a:p>
        </p:txBody>
      </p:sp>
      <p:sp>
        <p:nvSpPr>
          <p:cNvPr id="3" name="Text Placeholder 2">
            <a:extLst>
              <a:ext uri="{FF2B5EF4-FFF2-40B4-BE49-F238E27FC236}">
                <a16:creationId xmlns:a16="http://schemas.microsoft.com/office/drawing/2014/main" id="{B0ACC738-40C0-1EE5-AD0F-4B7BA9DAF64A}"/>
              </a:ext>
            </a:extLst>
          </p:cNvPr>
          <p:cNvSpPr>
            <a:spLocks noGrp="1"/>
          </p:cNvSpPr>
          <p:nvPr>
            <p:ph type="body" idx="1"/>
          </p:nvPr>
        </p:nvSpPr>
        <p:spPr/>
        <p:txBody>
          <a:bodyPr/>
          <a:lstStyle/>
          <a:p>
            <a:pPr marL="514350" indent="-514350">
              <a:buFont typeface="+mj-lt"/>
              <a:buAutoNum type="romanLcPeriod"/>
            </a:pPr>
            <a:r>
              <a:rPr lang="en-IN" b="1" dirty="0">
                <a:solidFill>
                  <a:srgbClr val="002060"/>
                </a:solidFill>
              </a:rPr>
              <a:t>Arduino uno</a:t>
            </a:r>
            <a:r>
              <a:rPr lang="en-IN" dirty="0"/>
              <a:t>: </a:t>
            </a:r>
            <a:r>
              <a:rPr lang="en-US" b="0" i="0" dirty="0">
                <a:solidFill>
                  <a:srgbClr val="374151"/>
                </a:solidFill>
                <a:effectLst/>
                <a:latin typeface="Söhne"/>
              </a:rPr>
              <a:t>The Arduino Uno is based on the ATmega328P microcontroller, which is the brain of the board </a:t>
            </a:r>
            <a:r>
              <a:rPr lang="en-IN" b="0" i="0" dirty="0">
                <a:solidFill>
                  <a:srgbClr val="374151"/>
                </a:solidFill>
                <a:effectLst/>
                <a:latin typeface="Söhne"/>
              </a:rPr>
              <a:t>(</a:t>
            </a:r>
            <a:r>
              <a:rPr lang="en-IN" b="0" i="0" dirty="0">
                <a:solidFill>
                  <a:srgbClr val="0F172A"/>
                </a:solidFill>
                <a:effectLst/>
                <a:latin typeface="Hanken Grotesk"/>
              </a:rPr>
              <a:t>eight inputs, eight outputs)</a:t>
            </a:r>
            <a:endParaRPr lang="en-IN" dirty="0"/>
          </a:p>
          <a:p>
            <a:pPr marL="514350" indent="-514350">
              <a:buFont typeface="+mj-lt"/>
              <a:buAutoNum type="romanLcPeriod"/>
            </a:pPr>
            <a:r>
              <a:rPr lang="en-IN" b="1" dirty="0">
                <a:solidFill>
                  <a:srgbClr val="002060"/>
                </a:solidFill>
              </a:rPr>
              <a:t>IR Sensor</a:t>
            </a:r>
            <a:r>
              <a:rPr lang="en-IN" dirty="0"/>
              <a:t>: </a:t>
            </a:r>
            <a:r>
              <a:rPr lang="en-US" b="0" i="0" dirty="0">
                <a:solidFill>
                  <a:srgbClr val="374151"/>
                </a:solidFill>
                <a:effectLst/>
                <a:latin typeface="Söhne"/>
              </a:rPr>
              <a:t>An IR sensor, also known as an infrared sensor, is a device that detects infrared radiation in its surroundings.</a:t>
            </a:r>
            <a:endParaRPr lang="en-IN" dirty="0"/>
          </a:p>
          <a:p>
            <a:pPr marL="514350" indent="-514350">
              <a:buFont typeface="+mj-lt"/>
              <a:buAutoNum type="romanLcPeriod"/>
            </a:pPr>
            <a:r>
              <a:rPr lang="en-IN" b="1" dirty="0">
                <a:solidFill>
                  <a:srgbClr val="002060"/>
                </a:solidFill>
              </a:rPr>
              <a:t>LCD</a:t>
            </a:r>
            <a:r>
              <a:rPr lang="en-IN" dirty="0"/>
              <a:t>: </a:t>
            </a:r>
            <a:r>
              <a:rPr lang="en-US" b="0" i="0" dirty="0">
                <a:solidFill>
                  <a:srgbClr val="374151"/>
                </a:solidFill>
                <a:effectLst/>
                <a:latin typeface="Söhne"/>
              </a:rPr>
              <a:t>Liquid Crystal Display, is a flat-panel technology that uses liquid crystals sandwiched between two layers of glass or plastic.</a:t>
            </a:r>
            <a:endParaRPr lang="en-IN" dirty="0"/>
          </a:p>
          <a:p>
            <a:pPr marL="514350" indent="-514350">
              <a:buFont typeface="+mj-lt"/>
              <a:buAutoNum type="romanLcPeriod"/>
            </a:pPr>
            <a:r>
              <a:rPr lang="en-IN" b="1" dirty="0">
                <a:solidFill>
                  <a:srgbClr val="002060"/>
                </a:solidFill>
              </a:rPr>
              <a:t>I2C</a:t>
            </a:r>
            <a:r>
              <a:rPr lang="en-IN" dirty="0">
                <a:solidFill>
                  <a:srgbClr val="002060"/>
                </a:solidFill>
              </a:rPr>
              <a:t>:</a:t>
            </a:r>
            <a:r>
              <a:rPr lang="en-IN" dirty="0"/>
              <a:t> </a:t>
            </a:r>
            <a:r>
              <a:rPr lang="en-US" b="0" i="0" dirty="0">
                <a:solidFill>
                  <a:srgbClr val="374151"/>
                </a:solidFill>
                <a:effectLst/>
                <a:latin typeface="Söhne"/>
              </a:rPr>
              <a:t>It is a two-wire communication protocol, consisting of a Serial Data Line (SDA) for data transfer and a Serial Clock Line (SCL) for synchronization. I2C allows multiple devices to be connected to the same bus</a:t>
            </a:r>
            <a:endParaRPr lang="en-IN" dirty="0"/>
          </a:p>
          <a:p>
            <a:pPr marL="514350" indent="-514350">
              <a:buFont typeface="+mj-lt"/>
              <a:buAutoNum type="romanLcPeriod"/>
            </a:pPr>
            <a:r>
              <a:rPr lang="en-IN" b="1" dirty="0">
                <a:solidFill>
                  <a:srgbClr val="002060"/>
                </a:solidFill>
              </a:rPr>
              <a:t>Bread Board</a:t>
            </a:r>
            <a:r>
              <a:rPr lang="en-IN" dirty="0"/>
              <a:t>: </a:t>
            </a:r>
          </a:p>
          <a:p>
            <a:pPr marL="514350" indent="-514350">
              <a:buFont typeface="+mj-lt"/>
              <a:buAutoNum type="romanLcPeriod"/>
            </a:pPr>
            <a:r>
              <a:rPr lang="en-IN" b="1" dirty="0">
                <a:solidFill>
                  <a:srgbClr val="002060"/>
                </a:solidFill>
              </a:rPr>
              <a:t>Jumper Wire</a:t>
            </a:r>
            <a:r>
              <a:rPr lang="en-IN" dirty="0"/>
              <a:t>: </a:t>
            </a:r>
          </a:p>
          <a:p>
            <a:pPr marL="514350" indent="-514350">
              <a:buFont typeface="+mj-lt"/>
              <a:buAutoNum type="romanLcPeriod"/>
            </a:pPr>
            <a:endParaRPr lang="en-IN" dirty="0"/>
          </a:p>
          <a:p>
            <a:pPr marL="514350" indent="-514350">
              <a:buFont typeface="+mj-lt"/>
              <a:buAutoNum type="romanLcPeriod"/>
            </a:pPr>
            <a:endParaRPr lang="en-IN" dirty="0"/>
          </a:p>
        </p:txBody>
      </p:sp>
    </p:spTree>
    <p:extLst>
      <p:ext uri="{BB962C8B-B14F-4D97-AF65-F5344CB8AC3E}">
        <p14:creationId xmlns:p14="http://schemas.microsoft.com/office/powerpoint/2010/main" val="3141387850"/>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Python (programming language) - Wikipedia">
            <a:extLst>
              <a:ext uri="{FF2B5EF4-FFF2-40B4-BE49-F238E27FC236}">
                <a16:creationId xmlns:a16="http://schemas.microsoft.com/office/drawing/2014/main" id="{6835A1CB-FC9A-82EB-143C-E599F218F7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26408" y="2926015"/>
            <a:ext cx="2521307" cy="2761619"/>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0DB755B-7BCA-3815-15B7-1293D51550E9}"/>
              </a:ext>
            </a:extLst>
          </p:cNvPr>
          <p:cNvSpPr>
            <a:spLocks noGrp="1"/>
          </p:cNvSpPr>
          <p:nvPr>
            <p:ph type="title"/>
          </p:nvPr>
        </p:nvSpPr>
        <p:spPr/>
        <p:txBody>
          <a:bodyPr/>
          <a:lstStyle/>
          <a:p>
            <a:r>
              <a:rPr lang="en-IN" dirty="0"/>
              <a:t>ALGORITHM USED</a:t>
            </a:r>
          </a:p>
        </p:txBody>
      </p:sp>
      <p:sp>
        <p:nvSpPr>
          <p:cNvPr id="3" name="Text Placeholder 2">
            <a:extLst>
              <a:ext uri="{FF2B5EF4-FFF2-40B4-BE49-F238E27FC236}">
                <a16:creationId xmlns:a16="http://schemas.microsoft.com/office/drawing/2014/main" id="{B0ACC738-40C0-1EE5-AD0F-4B7BA9DAF64A}"/>
              </a:ext>
            </a:extLst>
          </p:cNvPr>
          <p:cNvSpPr>
            <a:spLocks noGrp="1"/>
          </p:cNvSpPr>
          <p:nvPr>
            <p:ph type="body" idx="1"/>
          </p:nvPr>
        </p:nvSpPr>
        <p:spPr>
          <a:xfrm>
            <a:off x="1097280" y="1845734"/>
            <a:ext cx="10058400" cy="705442"/>
          </a:xfrm>
        </p:spPr>
        <p:txBody>
          <a:bodyPr/>
          <a:lstStyle/>
          <a:p>
            <a:pPr marL="514350" indent="-514350">
              <a:buFont typeface="+mj-lt"/>
              <a:buAutoNum type="romanLcPeriod"/>
            </a:pPr>
            <a:r>
              <a:rPr lang="en-US" b="1" dirty="0">
                <a:solidFill>
                  <a:srgbClr val="002060"/>
                </a:solidFill>
              </a:rPr>
              <a:t>Software</a:t>
            </a:r>
            <a:r>
              <a:rPr lang="en-US" dirty="0"/>
              <a:t>: The software component of our bi-directional object detection system leverages Python for image processing and object detection using libraries like OpenCV.</a:t>
            </a:r>
            <a:endParaRPr lang="en-IN" dirty="0"/>
          </a:p>
          <a:p>
            <a:pPr marL="514350" indent="-514350">
              <a:buFont typeface="+mj-lt"/>
              <a:buAutoNum type="romanLcPeriod"/>
            </a:pPr>
            <a:endParaRPr lang="en-IN" dirty="0"/>
          </a:p>
        </p:txBody>
      </p:sp>
    </p:spTree>
    <p:extLst>
      <p:ext uri="{BB962C8B-B14F-4D97-AF65-F5344CB8AC3E}">
        <p14:creationId xmlns:p14="http://schemas.microsoft.com/office/powerpoint/2010/main" val="2065682036"/>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DB755B-7BCA-3815-15B7-1293D51550E9}"/>
              </a:ext>
            </a:extLst>
          </p:cNvPr>
          <p:cNvSpPr>
            <a:spLocks noGrp="1"/>
          </p:cNvSpPr>
          <p:nvPr>
            <p:ph type="title"/>
          </p:nvPr>
        </p:nvSpPr>
        <p:spPr/>
        <p:txBody>
          <a:bodyPr/>
          <a:lstStyle/>
          <a:p>
            <a:r>
              <a:rPr lang="en-IN" b="1" i="0" dirty="0">
                <a:solidFill>
                  <a:srgbClr val="000000"/>
                </a:solidFill>
                <a:effectLst/>
                <a:latin typeface="Open Sans" panose="020B0606030504020204" pitchFamily="34" charset="0"/>
              </a:rPr>
              <a:t>BLOCK DIAGRAM</a:t>
            </a:r>
            <a:endParaRPr lang="en-IN" dirty="0"/>
          </a:p>
        </p:txBody>
      </p:sp>
      <p:pic>
        <p:nvPicPr>
          <p:cNvPr id="7" name="Picture 6">
            <a:extLst>
              <a:ext uri="{FF2B5EF4-FFF2-40B4-BE49-F238E27FC236}">
                <a16:creationId xmlns:a16="http://schemas.microsoft.com/office/drawing/2014/main" id="{B267AA14-B0CF-F76F-5CA5-B772A5C5D0F0}"/>
              </a:ext>
            </a:extLst>
          </p:cNvPr>
          <p:cNvPicPr>
            <a:picLocks noChangeAspect="1"/>
          </p:cNvPicPr>
          <p:nvPr/>
        </p:nvPicPr>
        <p:blipFill>
          <a:blip r:embed="rId2"/>
          <a:stretch>
            <a:fillRect/>
          </a:stretch>
        </p:blipFill>
        <p:spPr>
          <a:xfrm>
            <a:off x="2616452" y="2020824"/>
            <a:ext cx="6392167" cy="3953427"/>
          </a:xfrm>
          <a:prstGeom prst="rect">
            <a:avLst/>
          </a:prstGeom>
        </p:spPr>
      </p:pic>
    </p:spTree>
    <p:extLst>
      <p:ext uri="{BB962C8B-B14F-4D97-AF65-F5344CB8AC3E}">
        <p14:creationId xmlns:p14="http://schemas.microsoft.com/office/powerpoint/2010/main" val="2739480441"/>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4E7B0-F5B8-0AF9-D234-B35E60BF79C2}"/>
              </a:ext>
            </a:extLst>
          </p:cNvPr>
          <p:cNvSpPr>
            <a:spLocks noGrp="1"/>
          </p:cNvSpPr>
          <p:nvPr>
            <p:ph type="title"/>
          </p:nvPr>
        </p:nvSpPr>
        <p:spPr/>
        <p:txBody>
          <a:bodyPr/>
          <a:lstStyle/>
          <a:p>
            <a:r>
              <a:rPr lang="en-IN"/>
              <a:t>Applications</a:t>
            </a:r>
          </a:p>
        </p:txBody>
      </p:sp>
      <p:sp>
        <p:nvSpPr>
          <p:cNvPr id="3" name="Text Placeholder 2">
            <a:extLst>
              <a:ext uri="{FF2B5EF4-FFF2-40B4-BE49-F238E27FC236}">
                <a16:creationId xmlns:a16="http://schemas.microsoft.com/office/drawing/2014/main" id="{90AE31DD-38EF-BE2E-4D12-5E354DB494EE}"/>
              </a:ext>
            </a:extLst>
          </p:cNvPr>
          <p:cNvSpPr>
            <a:spLocks noGrp="1"/>
          </p:cNvSpPr>
          <p:nvPr>
            <p:ph type="body" idx="1"/>
          </p:nvPr>
        </p:nvSpPr>
        <p:spPr>
          <a:xfrm>
            <a:off x="1097280" y="1845734"/>
            <a:ext cx="10058400" cy="687154"/>
          </a:xfrm>
        </p:spPr>
        <p:txBody>
          <a:bodyPr/>
          <a:lstStyle/>
          <a:p>
            <a:r>
              <a:rPr lang="en-US" dirty="0">
                <a:latin typeface="+mj-lt"/>
              </a:rPr>
              <a:t>1. Bidirectional counters find applications in </a:t>
            </a:r>
            <a:r>
              <a:rPr lang="en-US" i="0" dirty="0">
                <a:solidFill>
                  <a:srgbClr val="000000"/>
                </a:solidFill>
                <a:effectLst/>
                <a:latin typeface="+mj-lt"/>
              </a:rPr>
              <a:t>In Classrooms to keep Track of number of Persons in the room.</a:t>
            </a:r>
            <a:endParaRPr lang="en-IN" dirty="0">
              <a:latin typeface="+mj-lt"/>
            </a:endParaRPr>
          </a:p>
        </p:txBody>
      </p:sp>
      <p:pic>
        <p:nvPicPr>
          <p:cNvPr id="5" name="Picture 4">
            <a:extLst>
              <a:ext uri="{FF2B5EF4-FFF2-40B4-BE49-F238E27FC236}">
                <a16:creationId xmlns:a16="http://schemas.microsoft.com/office/drawing/2014/main" id="{4B2A38F6-0243-CB03-E1CD-E3A2DB1FA440}"/>
              </a:ext>
            </a:extLst>
          </p:cNvPr>
          <p:cNvPicPr>
            <a:picLocks noChangeAspect="1"/>
          </p:cNvPicPr>
          <p:nvPr/>
        </p:nvPicPr>
        <p:blipFill>
          <a:blip r:embed="rId2"/>
          <a:stretch>
            <a:fillRect/>
          </a:stretch>
        </p:blipFill>
        <p:spPr>
          <a:xfrm>
            <a:off x="1181355" y="3156336"/>
            <a:ext cx="4030726" cy="2678700"/>
          </a:xfrm>
          <a:prstGeom prst="rect">
            <a:avLst/>
          </a:prstGeom>
        </p:spPr>
      </p:pic>
      <p:pic>
        <p:nvPicPr>
          <p:cNvPr id="7" name="Picture 6">
            <a:extLst>
              <a:ext uri="{FF2B5EF4-FFF2-40B4-BE49-F238E27FC236}">
                <a16:creationId xmlns:a16="http://schemas.microsoft.com/office/drawing/2014/main" id="{20DDB79A-EF70-F855-EE42-AF1D204A233D}"/>
              </a:ext>
            </a:extLst>
          </p:cNvPr>
          <p:cNvPicPr>
            <a:picLocks noChangeAspect="1"/>
          </p:cNvPicPr>
          <p:nvPr/>
        </p:nvPicPr>
        <p:blipFill>
          <a:blip r:embed="rId3"/>
          <a:stretch>
            <a:fillRect/>
          </a:stretch>
        </p:blipFill>
        <p:spPr>
          <a:xfrm>
            <a:off x="6096000" y="3156336"/>
            <a:ext cx="4544059" cy="2543530"/>
          </a:xfrm>
          <a:prstGeom prst="rect">
            <a:avLst/>
          </a:prstGeom>
        </p:spPr>
      </p:pic>
    </p:spTree>
    <p:extLst>
      <p:ext uri="{BB962C8B-B14F-4D97-AF65-F5344CB8AC3E}">
        <p14:creationId xmlns:p14="http://schemas.microsoft.com/office/powerpoint/2010/main" val="2022964182"/>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4E7B0-F5B8-0AF9-D234-B35E60BF79C2}"/>
              </a:ext>
            </a:extLst>
          </p:cNvPr>
          <p:cNvSpPr>
            <a:spLocks noGrp="1"/>
          </p:cNvSpPr>
          <p:nvPr>
            <p:ph type="title"/>
          </p:nvPr>
        </p:nvSpPr>
        <p:spPr/>
        <p:txBody>
          <a:bodyPr/>
          <a:lstStyle/>
          <a:p>
            <a:r>
              <a:rPr lang="en-IN"/>
              <a:t>Applications</a:t>
            </a:r>
          </a:p>
        </p:txBody>
      </p:sp>
      <p:sp>
        <p:nvSpPr>
          <p:cNvPr id="3" name="Text Placeholder 2">
            <a:extLst>
              <a:ext uri="{FF2B5EF4-FFF2-40B4-BE49-F238E27FC236}">
                <a16:creationId xmlns:a16="http://schemas.microsoft.com/office/drawing/2014/main" id="{90AE31DD-38EF-BE2E-4D12-5E354DB494EE}"/>
              </a:ext>
            </a:extLst>
          </p:cNvPr>
          <p:cNvSpPr>
            <a:spLocks noGrp="1"/>
          </p:cNvSpPr>
          <p:nvPr>
            <p:ph type="body" idx="1"/>
          </p:nvPr>
        </p:nvSpPr>
        <p:spPr>
          <a:xfrm>
            <a:off x="1097280" y="1845734"/>
            <a:ext cx="10058400" cy="687154"/>
          </a:xfrm>
        </p:spPr>
        <p:txBody>
          <a:bodyPr/>
          <a:lstStyle/>
          <a:p>
            <a:r>
              <a:rPr lang="en-US" b="1" i="0" dirty="0">
                <a:solidFill>
                  <a:srgbClr val="000000"/>
                </a:solidFill>
                <a:effectLst/>
                <a:latin typeface="+mj-lt"/>
              </a:rPr>
              <a:t>2. Security Purposes and Keeping Track of Number of People Simultaneously Travelling.</a:t>
            </a:r>
            <a:endParaRPr lang="en-IN" dirty="0">
              <a:latin typeface="+mj-lt"/>
            </a:endParaRPr>
          </a:p>
        </p:txBody>
      </p:sp>
      <p:pic>
        <p:nvPicPr>
          <p:cNvPr id="6" name="Picture 5">
            <a:extLst>
              <a:ext uri="{FF2B5EF4-FFF2-40B4-BE49-F238E27FC236}">
                <a16:creationId xmlns:a16="http://schemas.microsoft.com/office/drawing/2014/main" id="{5E15127B-DA4E-8D0F-5883-E7983AF8BF38}"/>
              </a:ext>
            </a:extLst>
          </p:cNvPr>
          <p:cNvPicPr>
            <a:picLocks noChangeAspect="1"/>
          </p:cNvPicPr>
          <p:nvPr/>
        </p:nvPicPr>
        <p:blipFill>
          <a:blip r:embed="rId2"/>
          <a:stretch>
            <a:fillRect/>
          </a:stretch>
        </p:blipFill>
        <p:spPr>
          <a:xfrm>
            <a:off x="1551941" y="3075362"/>
            <a:ext cx="3600953" cy="2705478"/>
          </a:xfrm>
          <a:prstGeom prst="rect">
            <a:avLst/>
          </a:prstGeom>
        </p:spPr>
      </p:pic>
      <p:pic>
        <p:nvPicPr>
          <p:cNvPr id="9" name="Picture 8">
            <a:extLst>
              <a:ext uri="{FF2B5EF4-FFF2-40B4-BE49-F238E27FC236}">
                <a16:creationId xmlns:a16="http://schemas.microsoft.com/office/drawing/2014/main" id="{900333D0-2D12-8068-8BBC-3E73C93F1581}"/>
              </a:ext>
            </a:extLst>
          </p:cNvPr>
          <p:cNvPicPr>
            <a:picLocks noChangeAspect="1"/>
          </p:cNvPicPr>
          <p:nvPr/>
        </p:nvPicPr>
        <p:blipFill>
          <a:blip r:embed="rId3"/>
          <a:stretch>
            <a:fillRect/>
          </a:stretch>
        </p:blipFill>
        <p:spPr>
          <a:xfrm>
            <a:off x="6126480" y="3075362"/>
            <a:ext cx="4086795" cy="2667372"/>
          </a:xfrm>
          <a:prstGeom prst="rect">
            <a:avLst/>
          </a:prstGeom>
        </p:spPr>
      </p:pic>
    </p:spTree>
    <p:extLst>
      <p:ext uri="{BB962C8B-B14F-4D97-AF65-F5344CB8AC3E}">
        <p14:creationId xmlns:p14="http://schemas.microsoft.com/office/powerpoint/2010/main" val="715642943"/>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B4C97-7D3B-9630-FF05-6FE73BF609BD}"/>
              </a:ext>
            </a:extLst>
          </p:cNvPr>
          <p:cNvSpPr>
            <a:spLocks noGrp="1"/>
          </p:cNvSpPr>
          <p:nvPr>
            <p:ph type="title"/>
          </p:nvPr>
        </p:nvSpPr>
        <p:spPr/>
        <p:txBody>
          <a:bodyPr/>
          <a:lstStyle/>
          <a:p>
            <a:r>
              <a:rPr lang="en-US" b="1" i="0" dirty="0">
                <a:solidFill>
                  <a:srgbClr val="000000"/>
                </a:solidFill>
                <a:effectLst/>
                <a:latin typeface="inherit"/>
              </a:rPr>
              <a:t>HOW DOES BIDIRECTIONAL VISITOR COUNTER WORK ?</a:t>
            </a:r>
            <a:endParaRPr lang="en-IN" dirty="0"/>
          </a:p>
        </p:txBody>
      </p:sp>
      <p:sp>
        <p:nvSpPr>
          <p:cNvPr id="3" name="Text Placeholder 2">
            <a:extLst>
              <a:ext uri="{FF2B5EF4-FFF2-40B4-BE49-F238E27FC236}">
                <a16:creationId xmlns:a16="http://schemas.microsoft.com/office/drawing/2014/main" id="{C61C05E3-BD29-CF62-1C4C-98B8BD1BEC5D}"/>
              </a:ext>
            </a:extLst>
          </p:cNvPr>
          <p:cNvSpPr>
            <a:spLocks noGrp="1"/>
          </p:cNvSpPr>
          <p:nvPr>
            <p:ph type="body" idx="1"/>
          </p:nvPr>
        </p:nvSpPr>
        <p:spPr/>
        <p:txBody>
          <a:bodyPr/>
          <a:lstStyle/>
          <a:p>
            <a:pPr algn="l" fontAlgn="base"/>
            <a:r>
              <a:rPr lang="en-US" b="0" i="0" dirty="0">
                <a:solidFill>
                  <a:srgbClr val="000000"/>
                </a:solidFill>
                <a:effectLst/>
                <a:latin typeface="inherit"/>
              </a:rPr>
              <a:t>THE BIDIRECTIONAL VISITOR COUNTER WORKS WITH MOST COMMONLY THREE COMPONENTS: SENSOR,CONTROLLER AND COUNTER DISPLAY.</a:t>
            </a:r>
            <a:endParaRPr lang="en-US" b="0" i="0" dirty="0">
              <a:solidFill>
                <a:srgbClr val="000000"/>
              </a:solidFill>
              <a:effectLst/>
              <a:latin typeface="Open Sans" panose="020B0606030504020204" pitchFamily="34" charset="0"/>
            </a:endParaRPr>
          </a:p>
          <a:p>
            <a:pPr algn="l" fontAlgn="base"/>
            <a:r>
              <a:rPr lang="en-US" b="0" i="0" dirty="0">
                <a:solidFill>
                  <a:srgbClr val="000000"/>
                </a:solidFill>
                <a:effectLst/>
                <a:latin typeface="Open Sans" panose="020B0606030504020204" pitchFamily="34" charset="0"/>
              </a:rPr>
              <a:t>THE SENSOR'S JOB IS TO PROVIDE INPUT TO THE CONTROLLER ABOUT ANY INTERRUPTION OR OBSERVATION AND THEN THE CONTROLLER WOULD RUN THE COUNTER UP OR DOWN DEPENDING UPON THE ACTION AND CHANGES IN THE UP/DOWN MODE DEPENDING ON THE SELECTION MADE ON THE  7 LCD DISPLAY ACCORDINGLY.</a:t>
            </a:r>
          </a:p>
          <a:p>
            <a:pPr algn="l" fontAlgn="base"/>
            <a:r>
              <a:rPr lang="en-US" b="0" i="0" dirty="0">
                <a:solidFill>
                  <a:srgbClr val="000000"/>
                </a:solidFill>
                <a:effectLst/>
                <a:latin typeface="Open Sans" panose="020B0606030504020204" pitchFamily="34" charset="0"/>
              </a:rPr>
              <a:t>IN MOST OF THE MODELS, TWO INFRARED SENSORS MODULES ARE USED FOR UP OR DOWN COUNTING.</a:t>
            </a:r>
          </a:p>
        </p:txBody>
      </p:sp>
    </p:spTree>
    <p:extLst>
      <p:ext uri="{BB962C8B-B14F-4D97-AF65-F5344CB8AC3E}">
        <p14:creationId xmlns:p14="http://schemas.microsoft.com/office/powerpoint/2010/main" val="3248026649"/>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14744-4EE6-0387-636D-C44B0A465B90}"/>
              </a:ext>
            </a:extLst>
          </p:cNvPr>
          <p:cNvSpPr>
            <a:spLocks noGrp="1"/>
          </p:cNvSpPr>
          <p:nvPr>
            <p:ph type="title"/>
          </p:nvPr>
        </p:nvSpPr>
        <p:spPr/>
        <p:txBody>
          <a:bodyPr/>
          <a:lstStyle/>
          <a:p>
            <a:r>
              <a:rPr lang="en-IN"/>
              <a:t>Up Mode</a:t>
            </a:r>
          </a:p>
        </p:txBody>
      </p:sp>
      <p:sp>
        <p:nvSpPr>
          <p:cNvPr id="3" name="Text Placeholder 2">
            <a:extLst>
              <a:ext uri="{FF2B5EF4-FFF2-40B4-BE49-F238E27FC236}">
                <a16:creationId xmlns:a16="http://schemas.microsoft.com/office/drawing/2014/main" id="{4A74D68B-3103-BB29-2FE8-CFE87A13E59B}"/>
              </a:ext>
            </a:extLst>
          </p:cNvPr>
          <p:cNvSpPr>
            <a:spLocks noGrp="1"/>
          </p:cNvSpPr>
          <p:nvPr>
            <p:ph type="body" idx="1"/>
          </p:nvPr>
        </p:nvSpPr>
        <p:spPr/>
        <p:txBody>
          <a:bodyPr/>
          <a:lstStyle/>
          <a:p>
            <a:r>
              <a:rPr lang="en-US"/>
              <a:t>In Up mode, the bidirectional counter increments its count with each clock pulse. It is used when the count needs to increase sequentially.</a:t>
            </a:r>
            <a:endParaRPr lang="en-IN"/>
          </a:p>
        </p:txBody>
      </p:sp>
      <p:pic>
        <p:nvPicPr>
          <p:cNvPr id="5" name="Picture 4">
            <a:extLst>
              <a:ext uri="{FF2B5EF4-FFF2-40B4-BE49-F238E27FC236}">
                <a16:creationId xmlns:a16="http://schemas.microsoft.com/office/drawing/2014/main" id="{06AA6148-B069-1B94-437F-4E590E5EBB79}"/>
              </a:ext>
            </a:extLst>
          </p:cNvPr>
          <p:cNvPicPr>
            <a:picLocks noChangeAspect="1"/>
          </p:cNvPicPr>
          <p:nvPr/>
        </p:nvPicPr>
        <p:blipFill>
          <a:blip r:embed="rId2"/>
          <a:stretch>
            <a:fillRect/>
          </a:stretch>
        </p:blipFill>
        <p:spPr>
          <a:xfrm>
            <a:off x="8306713" y="2973090"/>
            <a:ext cx="3296110" cy="2896004"/>
          </a:xfrm>
          <a:prstGeom prst="rect">
            <a:avLst/>
          </a:prstGeom>
        </p:spPr>
      </p:pic>
    </p:spTree>
    <p:extLst>
      <p:ext uri="{BB962C8B-B14F-4D97-AF65-F5344CB8AC3E}">
        <p14:creationId xmlns:p14="http://schemas.microsoft.com/office/powerpoint/2010/main" val="1583012045"/>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1A077-8F55-C59F-97AF-1CA19FB2698D}"/>
              </a:ext>
            </a:extLst>
          </p:cNvPr>
          <p:cNvSpPr>
            <a:spLocks noGrp="1"/>
          </p:cNvSpPr>
          <p:nvPr>
            <p:ph type="title"/>
          </p:nvPr>
        </p:nvSpPr>
        <p:spPr/>
        <p:txBody>
          <a:bodyPr/>
          <a:lstStyle/>
          <a:p>
            <a:r>
              <a:rPr lang="en-IN"/>
              <a:t>Down Mode</a:t>
            </a:r>
          </a:p>
        </p:txBody>
      </p:sp>
      <p:sp>
        <p:nvSpPr>
          <p:cNvPr id="3" name="Text Placeholder 2">
            <a:extLst>
              <a:ext uri="{FF2B5EF4-FFF2-40B4-BE49-F238E27FC236}">
                <a16:creationId xmlns:a16="http://schemas.microsoft.com/office/drawing/2014/main" id="{B753DC98-B95B-0C99-6C38-76E0FE189D3E}"/>
              </a:ext>
            </a:extLst>
          </p:cNvPr>
          <p:cNvSpPr>
            <a:spLocks noGrp="1"/>
          </p:cNvSpPr>
          <p:nvPr>
            <p:ph type="body" idx="1"/>
          </p:nvPr>
        </p:nvSpPr>
        <p:spPr/>
        <p:txBody>
          <a:bodyPr/>
          <a:lstStyle/>
          <a:p>
            <a:r>
              <a:rPr lang="en-US"/>
              <a:t>In Down mode, the bidirectional counter decrements its count with each clock pulse. It is used when the count needs to decrease sequentially.</a:t>
            </a:r>
            <a:endParaRPr lang="en-IN"/>
          </a:p>
        </p:txBody>
      </p:sp>
      <p:pic>
        <p:nvPicPr>
          <p:cNvPr id="5" name="Picture 4">
            <a:extLst>
              <a:ext uri="{FF2B5EF4-FFF2-40B4-BE49-F238E27FC236}">
                <a16:creationId xmlns:a16="http://schemas.microsoft.com/office/drawing/2014/main" id="{3E63F191-ABD7-4ACA-45F1-ACDA392CA6E8}"/>
              </a:ext>
            </a:extLst>
          </p:cNvPr>
          <p:cNvPicPr>
            <a:picLocks noChangeAspect="1"/>
          </p:cNvPicPr>
          <p:nvPr/>
        </p:nvPicPr>
        <p:blipFill>
          <a:blip r:embed="rId2"/>
          <a:stretch>
            <a:fillRect/>
          </a:stretch>
        </p:blipFill>
        <p:spPr>
          <a:xfrm>
            <a:off x="8270137" y="3081464"/>
            <a:ext cx="3296110" cy="2896004"/>
          </a:xfrm>
          <a:prstGeom prst="rect">
            <a:avLst/>
          </a:prstGeom>
        </p:spPr>
      </p:pic>
    </p:spTree>
    <p:extLst>
      <p:ext uri="{BB962C8B-B14F-4D97-AF65-F5344CB8AC3E}">
        <p14:creationId xmlns:p14="http://schemas.microsoft.com/office/powerpoint/2010/main" val="4068504889"/>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D3C14-B777-7857-D926-CC12AE1C16A9}"/>
              </a:ext>
            </a:extLst>
          </p:cNvPr>
          <p:cNvSpPr>
            <a:spLocks noGrp="1"/>
          </p:cNvSpPr>
          <p:nvPr>
            <p:ph type="title"/>
          </p:nvPr>
        </p:nvSpPr>
        <p:spPr/>
        <p:txBody>
          <a:bodyPr/>
          <a:lstStyle/>
          <a:p>
            <a:r>
              <a:rPr lang="en-IN"/>
              <a:t>Advantages</a:t>
            </a:r>
          </a:p>
        </p:txBody>
      </p:sp>
      <p:sp>
        <p:nvSpPr>
          <p:cNvPr id="3" name="Text Placeholder 2">
            <a:extLst>
              <a:ext uri="{FF2B5EF4-FFF2-40B4-BE49-F238E27FC236}">
                <a16:creationId xmlns:a16="http://schemas.microsoft.com/office/drawing/2014/main" id="{036A4413-D322-D13D-960C-33FCF7E80DE9}"/>
              </a:ext>
            </a:extLst>
          </p:cNvPr>
          <p:cNvSpPr>
            <a:spLocks noGrp="1"/>
          </p:cNvSpPr>
          <p:nvPr>
            <p:ph type="body" idx="1"/>
          </p:nvPr>
        </p:nvSpPr>
        <p:spPr/>
        <p:txBody>
          <a:bodyPr/>
          <a:lstStyle/>
          <a:p>
            <a:r>
              <a:rPr lang="en-US"/>
              <a:t>The bidirectional counter offers flexibility, allowing for both increasing and decreasing counts. This feature makes it versatile in various applications where bidirectional counting is required.</a:t>
            </a:r>
            <a:endParaRPr lang="en-IN"/>
          </a:p>
        </p:txBody>
      </p:sp>
    </p:spTree>
    <p:extLst>
      <p:ext uri="{BB962C8B-B14F-4D97-AF65-F5344CB8AC3E}">
        <p14:creationId xmlns:p14="http://schemas.microsoft.com/office/powerpoint/2010/main" val="1350947266"/>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B78C4-FE36-7C64-1A51-D5AE17D0194C}"/>
              </a:ext>
            </a:extLst>
          </p:cNvPr>
          <p:cNvSpPr>
            <a:spLocks noGrp="1"/>
          </p:cNvSpPr>
          <p:nvPr>
            <p:ph type="title"/>
          </p:nvPr>
        </p:nvSpPr>
        <p:spPr/>
        <p:txBody>
          <a:bodyPr/>
          <a:lstStyle/>
          <a:p>
            <a:r>
              <a:rPr lang="en-IN"/>
              <a:t>Limitations</a:t>
            </a:r>
          </a:p>
        </p:txBody>
      </p:sp>
      <p:sp>
        <p:nvSpPr>
          <p:cNvPr id="3" name="Text Placeholder 2">
            <a:extLst>
              <a:ext uri="{FF2B5EF4-FFF2-40B4-BE49-F238E27FC236}">
                <a16:creationId xmlns:a16="http://schemas.microsoft.com/office/drawing/2014/main" id="{0EA391FF-8C39-E392-5296-6ECA73DEDBDF}"/>
              </a:ext>
            </a:extLst>
          </p:cNvPr>
          <p:cNvSpPr>
            <a:spLocks noGrp="1"/>
          </p:cNvSpPr>
          <p:nvPr>
            <p:ph type="body" idx="1"/>
          </p:nvPr>
        </p:nvSpPr>
        <p:spPr/>
        <p:txBody>
          <a:bodyPr/>
          <a:lstStyle/>
          <a:p>
            <a:r>
              <a:rPr lang="en-US"/>
              <a:t>While bidirectional counters are versatile, they may require additional circuitry for proper control. Careful consideration of the application requirements is essential to ensure optimal performance.</a:t>
            </a:r>
            <a:endParaRPr lang="en-IN"/>
          </a:p>
        </p:txBody>
      </p:sp>
    </p:spTree>
    <p:extLst>
      <p:ext uri="{BB962C8B-B14F-4D97-AF65-F5344CB8AC3E}">
        <p14:creationId xmlns:p14="http://schemas.microsoft.com/office/powerpoint/2010/main" val="2167504228"/>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88BF7-2513-1D94-49B7-F36304F4D32B}"/>
              </a:ext>
            </a:extLst>
          </p:cNvPr>
          <p:cNvSpPr>
            <a:spLocks noGrp="1"/>
          </p:cNvSpPr>
          <p:nvPr>
            <p:ph type="title"/>
          </p:nvPr>
        </p:nvSpPr>
        <p:spPr/>
        <p:txBody>
          <a:bodyPr/>
          <a:lstStyle/>
          <a:p>
            <a:r>
              <a:rPr lang="en-IN"/>
              <a:t>Conclusion</a:t>
            </a:r>
          </a:p>
        </p:txBody>
      </p:sp>
      <p:sp>
        <p:nvSpPr>
          <p:cNvPr id="3" name="Text Placeholder 2">
            <a:extLst>
              <a:ext uri="{FF2B5EF4-FFF2-40B4-BE49-F238E27FC236}">
                <a16:creationId xmlns:a16="http://schemas.microsoft.com/office/drawing/2014/main" id="{0F9736B0-3893-54B5-84AC-D95670B2EEF3}"/>
              </a:ext>
            </a:extLst>
          </p:cNvPr>
          <p:cNvSpPr>
            <a:spLocks noGrp="1"/>
          </p:cNvSpPr>
          <p:nvPr>
            <p:ph type="body" idx="1"/>
          </p:nvPr>
        </p:nvSpPr>
        <p:spPr/>
        <p:txBody>
          <a:bodyPr/>
          <a:lstStyle/>
          <a:p>
            <a:r>
              <a:rPr lang="en-US"/>
              <a:t>In conclusion, bidirectional counters play a crucial role in digital systems, offering the flexibility of both upward and downward counting. Their applications range from simple electronic circuits to complex control systems.</a:t>
            </a:r>
            <a:endParaRPr lang="en-IN"/>
          </a:p>
        </p:txBody>
      </p:sp>
    </p:spTree>
    <p:extLst>
      <p:ext uri="{BB962C8B-B14F-4D97-AF65-F5344CB8AC3E}">
        <p14:creationId xmlns:p14="http://schemas.microsoft.com/office/powerpoint/2010/main" val="847037107"/>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EFBA5ECE-72AF-FDE4-17A4-184B4822A2A2}"/>
              </a:ext>
            </a:extLst>
          </p:cNvPr>
          <p:cNvSpPr txBox="1"/>
          <p:nvPr/>
        </p:nvSpPr>
        <p:spPr>
          <a:xfrm>
            <a:off x="4477512" y="2871216"/>
            <a:ext cx="3236976" cy="830997"/>
          </a:xfrm>
          <a:custGeom>
            <a:avLst/>
            <a:gdLst>
              <a:gd name="connsiteX0" fmla="*/ 0 w 3236976"/>
              <a:gd name="connsiteY0" fmla="*/ 0 h 830997"/>
              <a:gd name="connsiteX1" fmla="*/ 571866 w 3236976"/>
              <a:gd name="connsiteY1" fmla="*/ 0 h 830997"/>
              <a:gd name="connsiteX2" fmla="*/ 1078992 w 3236976"/>
              <a:gd name="connsiteY2" fmla="*/ 0 h 830997"/>
              <a:gd name="connsiteX3" fmla="*/ 1618488 w 3236976"/>
              <a:gd name="connsiteY3" fmla="*/ 0 h 830997"/>
              <a:gd name="connsiteX4" fmla="*/ 2190354 w 3236976"/>
              <a:gd name="connsiteY4" fmla="*/ 0 h 830997"/>
              <a:gd name="connsiteX5" fmla="*/ 3236976 w 3236976"/>
              <a:gd name="connsiteY5" fmla="*/ 0 h 830997"/>
              <a:gd name="connsiteX6" fmla="*/ 3236976 w 3236976"/>
              <a:gd name="connsiteY6" fmla="*/ 398879 h 830997"/>
              <a:gd name="connsiteX7" fmla="*/ 3236976 w 3236976"/>
              <a:gd name="connsiteY7" fmla="*/ 830997 h 830997"/>
              <a:gd name="connsiteX8" fmla="*/ 2632740 w 3236976"/>
              <a:gd name="connsiteY8" fmla="*/ 830997 h 830997"/>
              <a:gd name="connsiteX9" fmla="*/ 2190354 w 3236976"/>
              <a:gd name="connsiteY9" fmla="*/ 830997 h 830997"/>
              <a:gd name="connsiteX10" fmla="*/ 1683228 w 3236976"/>
              <a:gd name="connsiteY10" fmla="*/ 830997 h 830997"/>
              <a:gd name="connsiteX11" fmla="*/ 1176101 w 3236976"/>
              <a:gd name="connsiteY11" fmla="*/ 830997 h 830997"/>
              <a:gd name="connsiteX12" fmla="*/ 668975 w 3236976"/>
              <a:gd name="connsiteY12" fmla="*/ 830997 h 830997"/>
              <a:gd name="connsiteX13" fmla="*/ 0 w 3236976"/>
              <a:gd name="connsiteY13" fmla="*/ 830997 h 830997"/>
              <a:gd name="connsiteX14" fmla="*/ 0 w 3236976"/>
              <a:gd name="connsiteY14" fmla="*/ 432118 h 830997"/>
              <a:gd name="connsiteX15" fmla="*/ 0 w 3236976"/>
              <a:gd name="connsiteY15" fmla="*/ 0 h 830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236976" h="830997" fill="none" extrusionOk="0">
                <a:moveTo>
                  <a:pt x="0" y="0"/>
                </a:moveTo>
                <a:cubicBezTo>
                  <a:pt x="159986" y="-15928"/>
                  <a:pt x="391726" y="41041"/>
                  <a:pt x="571866" y="0"/>
                </a:cubicBezTo>
                <a:cubicBezTo>
                  <a:pt x="752006" y="-41041"/>
                  <a:pt x="848216" y="19915"/>
                  <a:pt x="1078992" y="0"/>
                </a:cubicBezTo>
                <a:cubicBezTo>
                  <a:pt x="1309768" y="-19915"/>
                  <a:pt x="1452877" y="63798"/>
                  <a:pt x="1618488" y="0"/>
                </a:cubicBezTo>
                <a:cubicBezTo>
                  <a:pt x="1784099" y="-63798"/>
                  <a:pt x="2066440" y="14044"/>
                  <a:pt x="2190354" y="0"/>
                </a:cubicBezTo>
                <a:cubicBezTo>
                  <a:pt x="2314268" y="-14044"/>
                  <a:pt x="2967487" y="120205"/>
                  <a:pt x="3236976" y="0"/>
                </a:cubicBezTo>
                <a:cubicBezTo>
                  <a:pt x="3252480" y="141524"/>
                  <a:pt x="3203399" y="236799"/>
                  <a:pt x="3236976" y="398879"/>
                </a:cubicBezTo>
                <a:cubicBezTo>
                  <a:pt x="3270553" y="560959"/>
                  <a:pt x="3192912" y="742820"/>
                  <a:pt x="3236976" y="830997"/>
                </a:cubicBezTo>
                <a:cubicBezTo>
                  <a:pt x="3075135" y="845822"/>
                  <a:pt x="2820175" y="769054"/>
                  <a:pt x="2632740" y="830997"/>
                </a:cubicBezTo>
                <a:cubicBezTo>
                  <a:pt x="2445305" y="892940"/>
                  <a:pt x="2325138" y="818348"/>
                  <a:pt x="2190354" y="830997"/>
                </a:cubicBezTo>
                <a:cubicBezTo>
                  <a:pt x="2055570" y="843646"/>
                  <a:pt x="1811775" y="790263"/>
                  <a:pt x="1683228" y="830997"/>
                </a:cubicBezTo>
                <a:cubicBezTo>
                  <a:pt x="1554681" y="871731"/>
                  <a:pt x="1315284" y="830368"/>
                  <a:pt x="1176101" y="830997"/>
                </a:cubicBezTo>
                <a:cubicBezTo>
                  <a:pt x="1036918" y="831626"/>
                  <a:pt x="911202" y="803336"/>
                  <a:pt x="668975" y="830997"/>
                </a:cubicBezTo>
                <a:cubicBezTo>
                  <a:pt x="426748" y="858658"/>
                  <a:pt x="274501" y="782596"/>
                  <a:pt x="0" y="830997"/>
                </a:cubicBezTo>
                <a:cubicBezTo>
                  <a:pt x="-38621" y="640693"/>
                  <a:pt x="17896" y="590216"/>
                  <a:pt x="0" y="432118"/>
                </a:cubicBezTo>
                <a:cubicBezTo>
                  <a:pt x="-17896" y="274020"/>
                  <a:pt x="28698" y="122550"/>
                  <a:pt x="0" y="0"/>
                </a:cubicBezTo>
                <a:close/>
              </a:path>
              <a:path w="3236976" h="830997" stroke="0" extrusionOk="0">
                <a:moveTo>
                  <a:pt x="0" y="0"/>
                </a:moveTo>
                <a:cubicBezTo>
                  <a:pt x="122846" y="-23071"/>
                  <a:pt x="258266" y="2243"/>
                  <a:pt x="474756" y="0"/>
                </a:cubicBezTo>
                <a:cubicBezTo>
                  <a:pt x="691246" y="-2243"/>
                  <a:pt x="887541" y="61013"/>
                  <a:pt x="1014252" y="0"/>
                </a:cubicBezTo>
                <a:cubicBezTo>
                  <a:pt x="1140963" y="-61013"/>
                  <a:pt x="1481466" y="8745"/>
                  <a:pt x="1618488" y="0"/>
                </a:cubicBezTo>
                <a:cubicBezTo>
                  <a:pt x="1755510" y="-8745"/>
                  <a:pt x="1864928" y="14485"/>
                  <a:pt x="2093244" y="0"/>
                </a:cubicBezTo>
                <a:cubicBezTo>
                  <a:pt x="2321560" y="-14485"/>
                  <a:pt x="2316497" y="7513"/>
                  <a:pt x="2535631" y="0"/>
                </a:cubicBezTo>
                <a:cubicBezTo>
                  <a:pt x="2754765" y="-7513"/>
                  <a:pt x="3069997" y="39435"/>
                  <a:pt x="3236976" y="0"/>
                </a:cubicBezTo>
                <a:cubicBezTo>
                  <a:pt x="3275381" y="174068"/>
                  <a:pt x="3224528" y="278231"/>
                  <a:pt x="3236976" y="390569"/>
                </a:cubicBezTo>
                <a:cubicBezTo>
                  <a:pt x="3249424" y="502907"/>
                  <a:pt x="3185248" y="732936"/>
                  <a:pt x="3236976" y="830997"/>
                </a:cubicBezTo>
                <a:cubicBezTo>
                  <a:pt x="2993905" y="861005"/>
                  <a:pt x="2951240" y="800238"/>
                  <a:pt x="2729850" y="830997"/>
                </a:cubicBezTo>
                <a:cubicBezTo>
                  <a:pt x="2508460" y="861756"/>
                  <a:pt x="2459304" y="830723"/>
                  <a:pt x="2222724" y="830997"/>
                </a:cubicBezTo>
                <a:cubicBezTo>
                  <a:pt x="1986144" y="831271"/>
                  <a:pt x="1865823" y="783157"/>
                  <a:pt x="1650858" y="830997"/>
                </a:cubicBezTo>
                <a:cubicBezTo>
                  <a:pt x="1435893" y="878837"/>
                  <a:pt x="1228978" y="823670"/>
                  <a:pt x="1046622" y="830997"/>
                </a:cubicBezTo>
                <a:cubicBezTo>
                  <a:pt x="864266" y="838324"/>
                  <a:pt x="674395" y="793054"/>
                  <a:pt x="507126" y="830997"/>
                </a:cubicBezTo>
                <a:cubicBezTo>
                  <a:pt x="339857" y="868940"/>
                  <a:pt x="145883" y="827180"/>
                  <a:pt x="0" y="830997"/>
                </a:cubicBezTo>
                <a:cubicBezTo>
                  <a:pt x="-677" y="651699"/>
                  <a:pt x="1789" y="524293"/>
                  <a:pt x="0" y="423808"/>
                </a:cubicBezTo>
                <a:cubicBezTo>
                  <a:pt x="-1789" y="323323"/>
                  <a:pt x="47728" y="96865"/>
                  <a:pt x="0" y="0"/>
                </a:cubicBezTo>
                <a:close/>
              </a:path>
            </a:pathLst>
          </a:custGeom>
          <a:solidFill>
            <a:schemeClr val="accent1"/>
          </a:solidFill>
          <a:ln>
            <a:solidFill>
              <a:schemeClr val="tx1"/>
            </a:solidFill>
            <a:extLst>
              <a:ext uri="{C807C97D-BFC1-408E-A445-0C87EB9F89A2}">
                <ask:lineSketchStyleProps xmlns:ask="http://schemas.microsoft.com/office/drawing/2018/sketchyshapes" sd="2882280211">
                  <a:prstGeom prst="rect">
                    <a:avLst/>
                  </a:prstGeom>
                  <ask:type>
                    <ask:lineSketchScribble/>
                  </ask:type>
                </ask:lineSketchStyleProps>
              </a:ext>
            </a:extLst>
          </a:ln>
          <a:effectLst>
            <a:reflection blurRad="6350" stA="52000" endA="300" endPos="35000" dir="5400000" sy="-100000" algn="bl" rotWithShape="0"/>
          </a:effectLst>
        </p:spPr>
        <p:txBody>
          <a:bodyPr wrap="square" rtlCol="0">
            <a:spAutoFit/>
          </a:bodyPr>
          <a:lstStyle/>
          <a:p>
            <a:r>
              <a:rPr lang="en-IN" sz="4800" b="1" dirty="0"/>
              <a:t>THANK YOU </a:t>
            </a:r>
          </a:p>
        </p:txBody>
      </p:sp>
    </p:spTree>
    <p:extLst>
      <p:ext uri="{BB962C8B-B14F-4D97-AF65-F5344CB8AC3E}">
        <p14:creationId xmlns:p14="http://schemas.microsoft.com/office/powerpoint/2010/main" val="1116174999"/>
      </p:ext>
    </p:extLst>
  </p:cSld>
  <p:clrMapOvr>
    <a:masterClrMapping/>
  </p:clrMapOvr>
  <p:transition spd="slow">
    <p:wipe/>
  </p:transition>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56</TotalTime>
  <Words>631</Words>
  <Application>Microsoft Office PowerPoint</Application>
  <PresentationFormat>Widescreen</PresentationFormat>
  <Paragraphs>40</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Calibri Light</vt:lpstr>
      <vt:lpstr>Hanken Grotesk</vt:lpstr>
      <vt:lpstr>inherit</vt:lpstr>
      <vt:lpstr>Open Sans</vt:lpstr>
      <vt:lpstr>Söhne</vt:lpstr>
      <vt:lpstr>Retrospect</vt:lpstr>
      <vt:lpstr>Bidirectional Counter Presentation</vt:lpstr>
      <vt:lpstr>Introduction</vt:lpstr>
      <vt:lpstr>Basic Concept</vt:lpstr>
      <vt:lpstr>COMPONENTS USED</vt:lpstr>
      <vt:lpstr>ALGORITHM USED</vt:lpstr>
      <vt:lpstr>BLOCK DIAGRAM</vt:lpstr>
      <vt:lpstr>Applications</vt:lpstr>
      <vt:lpstr>Applications</vt:lpstr>
      <vt:lpstr>HOW DOES BIDIRECTIONAL VISITOR COUNTER WORK ?</vt:lpstr>
      <vt:lpstr>Up Mode</vt:lpstr>
      <vt:lpstr>Down Mode</vt:lpstr>
      <vt:lpstr>Advantages</vt:lpstr>
      <vt:lpstr>Limitations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Bidirectional Counter Presentation</dc:title>
  <dc:creator>RAJU KUMAR</dc:creator>
  <cp:lastModifiedBy>RAJU KUMAR</cp:lastModifiedBy>
  <cp:revision>2</cp:revision>
  <dcterms:created xsi:type="dcterms:W3CDTF">2024-01-05T05:41:22Z</dcterms:created>
  <dcterms:modified xsi:type="dcterms:W3CDTF">2024-01-05T10:49:49Z</dcterms:modified>
</cp:coreProperties>
</file>